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8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70" r:id="rId13"/>
    <p:sldId id="271" r:id="rId14"/>
    <p:sldId id="261" r:id="rId15"/>
    <p:sldId id="272" r:id="rId16"/>
    <p:sldId id="273" r:id="rId17"/>
    <p:sldId id="274" r:id="rId18"/>
    <p:sldId id="275" r:id="rId19"/>
    <p:sldId id="276" r:id="rId20"/>
    <p:sldId id="277" r:id="rId21"/>
    <p:sldId id="259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B3DFD-0806-C908-4035-C9BE814C47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FA1655-120A-1072-CC9A-0E8643F03C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6A45B-5C6E-BC3E-2BBC-30FBF5635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AD0BA-7481-471B-BBB4-12E89F689BC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72A79-24DF-8BE7-0DDB-EF307CA30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6E9C9-265F-86B7-C250-62AA2F60B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3B0FD-1F41-4E35-A5FF-2B4872850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698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E369F-6C76-5609-98A4-29DF0D4E0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28AC5-E2AC-5E77-24AC-433B17D30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AD917-DCCC-7190-0806-36CD1E0B5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AD0BA-7481-471B-BBB4-12E89F689BC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AD3EB-99BC-4454-E848-D8AADCE0A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C249D-E164-D39F-09F8-F148D5503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3B0FD-1F41-4E35-A5FF-2B4872850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893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8FFCE-6136-369B-7DEC-CDD0C40D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93FC6-A01D-C0C9-2F89-05223C645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7ADBC-FC4E-8142-F096-DAA11055A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AD0BA-7481-471B-BBB4-12E89F689BC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60E6C-E2A8-DCDB-E369-122E07FAD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5A40D-0CD5-1C9E-E3B0-919130F0D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3B0FD-1F41-4E35-A5FF-2B4872850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93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F1438-7E3C-4C40-7004-0FDB1E1D5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DEE07-DDCC-0FF5-CAA8-AFB687D3D4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BCFDC-2213-96EB-BB42-96815C170F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E40299-2E01-0709-BC88-7A002B07F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AD0BA-7481-471B-BBB4-12E89F689BC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4253C-A258-8752-8F9B-8A5AB6A59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0F7124-6BCC-5CB1-DE24-2D88DF49A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3B0FD-1F41-4E35-A5FF-2B4872850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360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0E62C-09CE-E229-77E9-1A3769A2E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9E844-3BA6-DDFC-3BD0-7F9725DD5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5BDE9A-7B6D-0612-20F7-DDD531F6F7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602C1D-5E17-DD7B-A954-AF058F500F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EA5C93-A4C3-1D86-E5DB-E6DC16C9C5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3379A7-3C1D-20D1-ADC1-3BFB1479E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AD0BA-7481-471B-BBB4-12E89F689BC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357518-2B23-F179-E8D6-8CF37DB57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0C51F3-D81A-E246-C15B-5E4878EB0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3B0FD-1F41-4E35-A5FF-2B4872850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000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32341-0B53-0763-5F1B-566BDAAC2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3007D9-6A17-D3E7-4D82-C362D38D0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AD0BA-7481-471B-BBB4-12E89F689BC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BF15A5-380C-E340-9464-2DCBC3553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2FA014-6BAD-FA40-68D9-F6A12F29F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3B0FD-1F41-4E35-A5FF-2B4872850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334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B1C6E8-2037-23DD-35EF-B516CEEB7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AD0BA-7481-471B-BBB4-12E89F689BC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D669BF-CF4E-0B75-C5BF-0C7A53998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91FC3-E9B9-FAE5-A9C0-4876479B6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3B0FD-1F41-4E35-A5FF-2B4872850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222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BB6EF-AC33-E758-97FD-F9FDAB37A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DF8E7-5C98-C762-46DE-424279142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168F15-50B8-A837-5E16-EE77BCC973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E63763-9319-E8E7-20AA-5AA84DB59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AD0BA-7481-471B-BBB4-12E89F689BC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F81FB8-4B14-3F0B-0BEF-AC75A457C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BD00D-140F-9192-0D34-36D35F412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3B0FD-1F41-4E35-A5FF-2B4872850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08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DEB72-2704-80D4-49F8-5A6A2101E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4353D4-3DD7-8BE0-1F89-120E3A9EC2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AEC51-8926-04E5-E0CC-E639FE4A9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9EB7F6-25F2-AAAB-DAAB-C38D109E7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AD0BA-7481-471B-BBB4-12E89F689BC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263269-9BD5-C9FC-E0A7-58CAB5843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8580D3-7698-213E-220F-3A729695B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3B0FD-1F41-4E35-A5FF-2B4872850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240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5FC42-1296-6ADC-361D-3ED68D339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4F1546-14F3-CF14-6CD6-959D25F4F3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C73C4-7EC0-626F-A3CF-77A1C24C9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AD0BA-7481-471B-BBB4-12E89F689BC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C3018-FEC4-4315-B0D1-A269BC172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DB132-2FF3-3D81-63D6-2EB4811C3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3B0FD-1F41-4E35-A5FF-2B4872850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986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C2B4C5-9C4C-E6B1-7A41-BCDDA861B0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74EA7D-4E2C-E8F2-FC62-7A71636561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D91A8-D5C0-D4AC-9029-CCE4A5687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AD0BA-7481-471B-BBB4-12E89F689BC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0A834-B1A0-FD2F-507B-C8FC808DA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21FA9-D01B-CC3E-E760-D31026026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3B0FD-1F41-4E35-A5FF-2B4872850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391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9ADE99-EA3E-051B-83DC-8E5B5607F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B45C2F-AD8C-0E09-78E6-5EE269150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AAFAF-8EF0-5B35-B53D-64EBCC82E2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EAD0BA-7481-471B-BBB4-12E89F689BC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B60E2-5B66-3E3D-B8B1-7FC9F98504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71958-0C4A-A13C-CB8D-C75784999B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A3B0FD-1F41-4E35-A5FF-2B4872850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38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CC7BD-51E0-DD31-B673-C4EE714BE0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Geology 101 for Strontium Isoscapes: from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rocks</a:t>
            </a:r>
            <a:r>
              <a:rPr lang="en-US" dirty="0"/>
              <a:t> to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rivers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CAD174-DA93-D9F0-6659-4E417FB36F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825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A73E9-D4E0-2D4A-5EDA-5C19EFDE0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geology?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0A226-1E98-D7B8-9DF0-705B0C370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study of Earth’s materials — rocks, minerals, and the processes that shape them over time</a:t>
            </a:r>
          </a:p>
          <a:p>
            <a:r>
              <a:rPr lang="en-US" dirty="0"/>
              <a:t>Geology = source code, sets chemical background of rivers</a:t>
            </a:r>
          </a:p>
          <a:p>
            <a:r>
              <a:rPr lang="en-US" dirty="0"/>
              <a:t>Water moves through / over rocks, dissolves their mineral components, and carries those fingerprints downstream</a:t>
            </a:r>
          </a:p>
        </p:txBody>
      </p:sp>
    </p:spTree>
    <p:extLst>
      <p:ext uri="{BB962C8B-B14F-4D97-AF65-F5344CB8AC3E}">
        <p14:creationId xmlns:p14="http://schemas.microsoft.com/office/powerpoint/2010/main" val="1573683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247A5-F8E3-5ED1-699E-F618CDAF5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rock families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07DFF-3CC2-F283-E3D4-FA2A670EC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Igneous rocks </a:t>
            </a:r>
            <a:r>
              <a:rPr lang="en-US" dirty="0"/>
              <a:t>form from cooled magma</a:t>
            </a:r>
          </a:p>
          <a:p>
            <a:pPr lvl="1"/>
            <a:r>
              <a:rPr lang="en-US" dirty="0"/>
              <a:t>Basalt, granite, rhyolite — they set the foundational crust. </a:t>
            </a:r>
          </a:p>
          <a:p>
            <a:pPr lvl="1"/>
            <a:r>
              <a:rPr lang="en-US" dirty="0"/>
              <a:t>Their chemistry often reflects mantle and crustal origins</a:t>
            </a:r>
            <a:endParaRPr lang="en-US" b="0" dirty="0">
              <a:effectLst/>
            </a:endParaRPr>
          </a:p>
          <a:p>
            <a:r>
              <a:rPr lang="en-US" b="1" dirty="0"/>
              <a:t>Sedimentary rocks </a:t>
            </a:r>
            <a:r>
              <a:rPr lang="en-US" dirty="0"/>
              <a:t>form from compressed sediments</a:t>
            </a:r>
          </a:p>
          <a:p>
            <a:pPr lvl="1"/>
            <a:r>
              <a:rPr lang="en-US" dirty="0"/>
              <a:t>Sandstone, shale, limestone</a:t>
            </a:r>
          </a:p>
          <a:p>
            <a:pPr lvl="1"/>
            <a:r>
              <a:rPr lang="en-US" dirty="0"/>
              <a:t>They often record past environments like oceans, rivers, or deserts</a:t>
            </a:r>
            <a:endParaRPr lang="en-US" b="0" dirty="0">
              <a:effectLst/>
            </a:endParaRPr>
          </a:p>
          <a:p>
            <a:r>
              <a:rPr lang="en-US" b="1" dirty="0"/>
              <a:t>Metamorphic rocks</a:t>
            </a:r>
            <a:r>
              <a:rPr lang="en-US" dirty="0"/>
              <a:t>: transformed by heat and pressure</a:t>
            </a:r>
          </a:p>
          <a:p>
            <a:pPr lvl="1"/>
            <a:r>
              <a:rPr lang="en-US" dirty="0"/>
              <a:t>Schist, gneiss, marble</a:t>
            </a:r>
          </a:p>
          <a:p>
            <a:pPr lvl="1"/>
            <a:r>
              <a:rPr lang="en-US" dirty="0"/>
              <a:t>They carry the chemistry of their parent rocks, but altered</a:t>
            </a:r>
            <a:endParaRPr lang="en-US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89769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ypes of Rocks - Igneous Sedimentary Metamorphic">
            <a:extLst>
              <a:ext uri="{FF2B5EF4-FFF2-40B4-BE49-F238E27FC236}">
                <a16:creationId xmlns:a16="http://schemas.microsoft.com/office/drawing/2014/main" id="{C9CCB480-E841-B9FE-C9D7-15A73C44FEF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016" y="87677"/>
            <a:ext cx="10023968" cy="6682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311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C0810-5E24-C7EF-2E25-FD8489213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Igneous rocks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97C90-78AB-7032-53C5-109575436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Fire-formed </a:t>
            </a:r>
            <a:r>
              <a:rPr lang="en-US" dirty="0">
                <a:sym typeface="Wingdings" panose="05000000000000000000" pitchFamily="2" charset="2"/>
              </a:rPr>
              <a:t> crystallize from molten material (magma/lava)</a:t>
            </a:r>
          </a:p>
          <a:p>
            <a:r>
              <a:rPr lang="en-US" dirty="0">
                <a:sym typeface="Wingdings" panose="05000000000000000000" pitchFamily="2" charset="2"/>
              </a:rPr>
              <a:t>Earth’s original building blocks</a:t>
            </a:r>
            <a:endParaRPr lang="en-US" dirty="0"/>
          </a:p>
          <a:p>
            <a:r>
              <a:rPr lang="en-US" dirty="0">
                <a:sym typeface="Wingdings" panose="05000000000000000000" pitchFamily="2" charset="2"/>
              </a:rPr>
              <a:t>Formation separates 2 types: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Volcanic / extrusive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Plutonic / intrusive</a:t>
            </a:r>
          </a:p>
          <a:p>
            <a:r>
              <a:rPr lang="en-US" dirty="0">
                <a:sym typeface="Wingdings" panose="05000000000000000000" pitchFamily="2" charset="2"/>
              </a:rPr>
              <a:t>Texture tells the story: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Slow cooling = coarse-grained granite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Fast cooling = fine-grained basalt</a:t>
            </a:r>
          </a:p>
        </p:txBody>
      </p:sp>
      <p:pic>
        <p:nvPicPr>
          <p:cNvPr id="2050" name="Picture 2" descr="Igneous Rocks">
            <a:extLst>
              <a:ext uri="{FF2B5EF4-FFF2-40B4-BE49-F238E27FC236}">
                <a16:creationId xmlns:a16="http://schemas.microsoft.com/office/drawing/2014/main" id="{79914B68-4EA6-4D04-6F4E-8A20361A3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1502" y="2706053"/>
            <a:ext cx="5206365" cy="3470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0215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553DC-7B1D-5AC9-4039-5337D3DCD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Igneous rocks: chemistry and Sr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EFB8B-D2F2-F9E1-0469-0EF9F4209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/>
              <a:t>Strontium substitutes for calcium in feldspar and other minerals.</a:t>
            </a:r>
          </a:p>
          <a:p>
            <a:pPr fontAlgn="base"/>
            <a:r>
              <a:rPr lang="en-US" dirty="0"/>
              <a:t>The ^87Sr/^86Sr ratio reflects rock age and source.</a:t>
            </a:r>
          </a:p>
          <a:p>
            <a:pPr lvl="1" fontAlgn="base"/>
            <a:r>
              <a:rPr lang="en-US" dirty="0"/>
              <a:t>Young mantle-derived basalts → low ratios (~0.703–0.705).</a:t>
            </a:r>
          </a:p>
          <a:p>
            <a:pPr lvl="1" fontAlgn="base"/>
            <a:r>
              <a:rPr lang="en-US" dirty="0"/>
              <a:t>Old granitic continental crust → high ratios (~0.710+).</a:t>
            </a:r>
          </a:p>
          <a:p>
            <a:pPr lvl="1" fontAlgn="base"/>
            <a:r>
              <a:rPr lang="en-US" dirty="0"/>
              <a:t>Intermediate volcanic rocks (andesite, rhyolite) → middle ground.</a:t>
            </a:r>
          </a:p>
          <a:p>
            <a:r>
              <a:rPr lang="en-US" dirty="0"/>
              <a:t>Analogy: basalts are “youthful voices” with a simple tone, granites are “older storytellers” with layered resonance.</a:t>
            </a:r>
          </a:p>
        </p:txBody>
      </p:sp>
    </p:spTree>
    <p:extLst>
      <p:ext uri="{BB962C8B-B14F-4D97-AF65-F5344CB8AC3E}">
        <p14:creationId xmlns:p14="http://schemas.microsoft.com/office/powerpoint/2010/main" val="3185199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E2D94-CC79-FA06-D65D-4042F326E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Igneous rocks: context for rivers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94D14-FCB4-83E5-DF39-A4359F982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/>
              <a:t>Central Idaho geology = strong igneous influence.</a:t>
            </a:r>
          </a:p>
          <a:p>
            <a:pPr fontAlgn="base"/>
            <a:r>
              <a:rPr lang="en-US" dirty="0"/>
              <a:t>Idaho Batholith (Cretaceous granites) → radiogenic, high ^87Sr/^86Sr.</a:t>
            </a:r>
          </a:p>
          <a:p>
            <a:pPr fontAlgn="base"/>
            <a:r>
              <a:rPr lang="en-US" dirty="0"/>
              <a:t>Challis Volcanics (Tertiary volcanics) → younger, lower Sr ratios.</a:t>
            </a:r>
          </a:p>
          <a:p>
            <a:pPr fontAlgn="base"/>
            <a:r>
              <a:rPr lang="en-US" dirty="0"/>
              <a:t>Tributaries draining these units carry distinct chemical fingerprints → those signatures are archived in salmon otoliths.</a:t>
            </a:r>
          </a:p>
          <a:p>
            <a:r>
              <a:rPr lang="en-US" dirty="0"/>
              <a:t>Pathway: Rock → Water → Otolith.</a:t>
            </a:r>
          </a:p>
        </p:txBody>
      </p:sp>
    </p:spTree>
    <p:extLst>
      <p:ext uri="{BB962C8B-B14F-4D97-AF65-F5344CB8AC3E}">
        <p14:creationId xmlns:p14="http://schemas.microsoft.com/office/powerpoint/2010/main" val="2891239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862D6-3F88-EACA-F687-F2E7D7982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Sedimentary rocks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8F4A4-2922-E57C-46E9-CFDA9457B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/>
              <a:t>Formed from layers of deposited material (sand, mud, shells, dissolved ions)</a:t>
            </a:r>
          </a:p>
          <a:p>
            <a:pPr fontAlgn="base"/>
            <a:r>
              <a:rPr lang="en-US" dirty="0"/>
              <a:t>Built in environments like oceans, rivers, deserts, floodplains.</a:t>
            </a:r>
          </a:p>
          <a:p>
            <a:pPr fontAlgn="base"/>
            <a:r>
              <a:rPr lang="en-US" dirty="0"/>
              <a:t>Analogy: Earth’s history books — each layer a page of past environments.</a:t>
            </a:r>
          </a:p>
          <a:p>
            <a:pPr fontAlgn="base"/>
            <a:r>
              <a:rPr lang="en-US" dirty="0"/>
              <a:t>Common types:</a:t>
            </a:r>
          </a:p>
          <a:p>
            <a:pPr lvl="1" fontAlgn="base"/>
            <a:r>
              <a:rPr lang="en-US" dirty="0"/>
              <a:t>Sandstone → cemented sand</a:t>
            </a:r>
          </a:p>
          <a:p>
            <a:pPr lvl="1" fontAlgn="base"/>
            <a:r>
              <a:rPr lang="en-US" dirty="0"/>
              <a:t>Shale → compacted mud</a:t>
            </a:r>
          </a:p>
          <a:p>
            <a:pPr lvl="1" fontAlgn="base"/>
            <a:r>
              <a:rPr lang="en-US" dirty="0"/>
              <a:t>Limestone → precipitated carbonates</a:t>
            </a:r>
          </a:p>
        </p:txBody>
      </p:sp>
      <p:pic>
        <p:nvPicPr>
          <p:cNvPr id="3074" name="Picture 2" descr="Types of Sedimentary Rocks">
            <a:extLst>
              <a:ext uri="{FF2B5EF4-FFF2-40B4-BE49-F238E27FC236}">
                <a16:creationId xmlns:a16="http://schemas.microsoft.com/office/drawing/2014/main" id="{AD8A3B00-01C1-0F6D-A998-1BFFC140F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3008" y="3874326"/>
            <a:ext cx="4136136" cy="275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1685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FFBD0-31F7-0D0B-B2D1-F701EFDEF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Sedimentary rocks: chemistry and Sr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88AB6-9E33-D622-0D03-561B69330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/>
              <a:t>Often chemically diverse, reflecting source materials.</a:t>
            </a:r>
          </a:p>
          <a:p>
            <a:pPr fontAlgn="base"/>
            <a:r>
              <a:rPr lang="en-US" dirty="0"/>
              <a:t>Carbonates (limestones, dolomites): can dominate local water chemistry, often buffering pH and Sr content.</a:t>
            </a:r>
          </a:p>
          <a:p>
            <a:pPr fontAlgn="base"/>
            <a:r>
              <a:rPr lang="en-US" dirty="0"/>
              <a:t>Shales/sandstones: inherit Sr from eroded parent rocks → variable isotopic signatures.</a:t>
            </a:r>
          </a:p>
          <a:p>
            <a:pPr fontAlgn="base"/>
            <a:r>
              <a:rPr lang="en-US" dirty="0"/>
              <a:t>Sr ratios tend to mirror the age and type of sediment source rather than simple “young vs. old” rule.</a:t>
            </a:r>
          </a:p>
          <a:p>
            <a:r>
              <a:rPr lang="en-US" dirty="0"/>
              <a:t>Analogy: sedimentary rocks are “editors” — remixing older material into a new narrative.</a:t>
            </a:r>
          </a:p>
        </p:txBody>
      </p:sp>
    </p:spTree>
    <p:extLst>
      <p:ext uri="{BB962C8B-B14F-4D97-AF65-F5344CB8AC3E}">
        <p14:creationId xmlns:p14="http://schemas.microsoft.com/office/powerpoint/2010/main" val="773648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BE4AD-3E60-DC54-7D47-702B422FA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Sedimentary rocks: context for rivers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0B33C-D5D9-89B8-6BEF-F057A069E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/>
              <a:t>Sedimentary units in Idaho are patchy but important:</a:t>
            </a:r>
          </a:p>
          <a:p>
            <a:pPr lvl="1" fontAlgn="base"/>
            <a:r>
              <a:rPr lang="en-US" dirty="0"/>
              <a:t>Limestones can dampen isotopic extremes, producing more stable Sr signatures.</a:t>
            </a:r>
          </a:p>
          <a:p>
            <a:pPr lvl="1" fontAlgn="base"/>
            <a:r>
              <a:rPr lang="en-US" dirty="0"/>
              <a:t>Shales/sandstones provide mixed signals, especially in multi-source watersheds.</a:t>
            </a:r>
          </a:p>
          <a:p>
            <a:r>
              <a:rPr lang="en-US" dirty="0"/>
              <a:t>Where rivers cut through sedimentary layers, you may see distinct local chemical shifts, even if igneous dominates regionally</a:t>
            </a:r>
          </a:p>
        </p:txBody>
      </p:sp>
    </p:spTree>
    <p:extLst>
      <p:ext uri="{BB962C8B-B14F-4D97-AF65-F5344CB8AC3E}">
        <p14:creationId xmlns:p14="http://schemas.microsoft.com/office/powerpoint/2010/main" val="3469478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C0EF4-A625-3F65-45AB-80D0F6128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Metamorphic rocks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5DC94-7137-C7A0-29FD-346918155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/>
              <a:t>Formed when existing rocks are transformed by heat and pressure deep in Earth’s crust.</a:t>
            </a:r>
          </a:p>
          <a:p>
            <a:pPr fontAlgn="base"/>
            <a:r>
              <a:rPr lang="en-US" dirty="0"/>
              <a:t>Analogy: metamorphic rocks are “recycled veterans” — older rocks re-forged into new forms under stress.</a:t>
            </a:r>
          </a:p>
          <a:p>
            <a:pPr fontAlgn="base"/>
            <a:r>
              <a:rPr lang="en-US" dirty="0"/>
              <a:t>Common examples:</a:t>
            </a:r>
          </a:p>
          <a:p>
            <a:pPr lvl="1" fontAlgn="base"/>
            <a:r>
              <a:rPr lang="en-US" dirty="0"/>
              <a:t>Schist → shiny, flaky, mineral-rich.</a:t>
            </a:r>
          </a:p>
          <a:p>
            <a:pPr lvl="1" fontAlgn="base"/>
            <a:r>
              <a:rPr lang="en-US" dirty="0"/>
              <a:t>Gneiss → banded, layered appearance.</a:t>
            </a:r>
          </a:p>
          <a:p>
            <a:pPr lvl="1" fontAlgn="base"/>
            <a:r>
              <a:rPr lang="en-US" dirty="0"/>
              <a:t>Marble → metamorphosed limestone.</a:t>
            </a:r>
          </a:p>
        </p:txBody>
      </p:sp>
      <p:pic>
        <p:nvPicPr>
          <p:cNvPr id="4098" name="Picture 2" descr="Metamorphic Rocks">
            <a:extLst>
              <a:ext uri="{FF2B5EF4-FFF2-40B4-BE49-F238E27FC236}">
                <a16:creationId xmlns:a16="http://schemas.microsoft.com/office/drawing/2014/main" id="{00BDB4F3-F073-888C-AD6A-CF25B8A2F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3429000"/>
            <a:ext cx="4582668" cy="3055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9545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E7CB2-EC3C-F2CC-6520-E30922196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Metamorphic rocks: chemistry and Sr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A2CA3-B6EA-741D-CE87-5C56B42AC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/>
              <a:t>Sr signature depends on parent rock + metamorphic history.</a:t>
            </a:r>
          </a:p>
          <a:p>
            <a:pPr fontAlgn="base"/>
            <a:r>
              <a:rPr lang="en-US" dirty="0"/>
              <a:t>Ancient crustal </a:t>
            </a:r>
            <a:r>
              <a:rPr lang="en-US" dirty="0" err="1"/>
              <a:t>metamorphics</a:t>
            </a:r>
            <a:r>
              <a:rPr lang="en-US" dirty="0"/>
              <a:t> → often very radiogenic (high ^87Sr/^86Sr).</a:t>
            </a:r>
          </a:p>
          <a:p>
            <a:pPr fontAlgn="base"/>
            <a:r>
              <a:rPr lang="en-US" dirty="0"/>
              <a:t>Metamorphism reshuffles minerals but doesn’t “reset” the isotopic clock → old sources stay old.</a:t>
            </a:r>
          </a:p>
          <a:p>
            <a:r>
              <a:rPr lang="en-US" dirty="0"/>
              <a:t>Analogy: like rewriting a novel but keeping the original language — the story is rearranged, but the words (isotopes) are still there.</a:t>
            </a:r>
          </a:p>
        </p:txBody>
      </p:sp>
    </p:spTree>
    <p:extLst>
      <p:ext uri="{BB962C8B-B14F-4D97-AF65-F5344CB8AC3E}">
        <p14:creationId xmlns:p14="http://schemas.microsoft.com/office/powerpoint/2010/main" val="1721715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2E5EC-0402-1654-F146-A816F65FF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Metamorphic rocks: context for rivers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55EC2-A5A6-FE3C-19D0-509C91492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/>
              <a:t>In central Idaho, metamorphic terrains include very old Precambrian rocks.</a:t>
            </a:r>
          </a:p>
          <a:p>
            <a:pPr fontAlgn="base"/>
            <a:r>
              <a:rPr lang="en-US" dirty="0"/>
              <a:t>These contribute high Sr ratios, distinct from younger volcanic neighbors.</a:t>
            </a:r>
          </a:p>
          <a:p>
            <a:pPr fontAlgn="base"/>
            <a:r>
              <a:rPr lang="en-US" dirty="0"/>
              <a:t>Tributaries draining </a:t>
            </a:r>
            <a:r>
              <a:rPr lang="en-US" dirty="0" err="1"/>
              <a:t>metamorphics</a:t>
            </a:r>
            <a:r>
              <a:rPr lang="en-US" dirty="0"/>
              <a:t> often stand out isotopically → useful “anchors” for your isoscape.</a:t>
            </a:r>
          </a:p>
          <a:p>
            <a:pPr fontAlgn="base"/>
            <a:r>
              <a:rPr lang="en-US" dirty="0"/>
              <a:t>Mixing zones (igneous + metamorphic inputs) can create sharp isotopic contrasts.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31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F6043-BAB2-BA28-E8D6-52223C495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Geology of Idaho and the MFSR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81F6A-2583-8766-C9A4-800B6222C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/>
              <a:t>Idaho sits at the crossroads of ancient crust, massive intrusions, and fiery volcanism</a:t>
            </a:r>
          </a:p>
          <a:p>
            <a:pPr fontAlgn="base"/>
            <a:r>
              <a:rPr lang="en-US" dirty="0"/>
              <a:t>The Middle Fork Salmon River (MFSR) cuts right through this geologic patchwork → giving you a natural lab for strontium isoscapes</a:t>
            </a:r>
          </a:p>
          <a:p>
            <a:r>
              <a:rPr lang="en-US" dirty="0"/>
              <a:t>Analogy: Idaho geology is like a layered orchestra — old instruments, new instruments, and remixes all playing at once</a:t>
            </a:r>
          </a:p>
        </p:txBody>
      </p:sp>
    </p:spTree>
    <p:extLst>
      <p:ext uri="{BB962C8B-B14F-4D97-AF65-F5344CB8AC3E}">
        <p14:creationId xmlns:p14="http://schemas.microsoft.com/office/powerpoint/2010/main" val="4134096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1AD65-2A54-F6D5-5B52-634D06CC6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Big Players in Central Idaho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33F94-CA2A-AD23-E706-141C8BE16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Idaho Batholith (Cretaceous granites)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Challis Volcanics (Eocene volcanism)</a:t>
            </a:r>
            <a:endParaRPr lang="en-US" dirty="0">
              <a:effectLst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Precambrian Metamorphic Rocks</a:t>
            </a:r>
            <a:endParaRPr lang="en-US" dirty="0">
              <a:effectLst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Sedimentary Sequences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12125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0FBB8-73B0-0FD9-EC72-29C60FB6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Idaho Batholith (Cretaceous granites)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AB3B2-A177-8A30-D123-FE86C454B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/>
              <a:t>Enormous body of intrusive igneous rock (~100 million years old)</a:t>
            </a:r>
          </a:p>
          <a:p>
            <a:pPr fontAlgn="base"/>
            <a:r>
              <a:rPr lang="en-US" dirty="0"/>
              <a:t>Composed mostly of granite → feldspar-rich, radiogenic Sr signatures</a:t>
            </a:r>
          </a:p>
          <a:p>
            <a:pPr fontAlgn="base"/>
            <a:r>
              <a:rPr lang="en-US" dirty="0"/>
              <a:t>Forms much of the central Idaho wilderness (including Middle Fork headwaters)</a:t>
            </a:r>
          </a:p>
          <a:p>
            <a:r>
              <a:rPr lang="en-US" dirty="0"/>
              <a:t>Expect: </a:t>
            </a:r>
            <a:r>
              <a:rPr lang="en-US" b="1" dirty="0"/>
              <a:t>elevated ^87Sr/^86Sr ratios </a:t>
            </a:r>
            <a:r>
              <a:rPr lang="en-US" dirty="0"/>
              <a:t>compared to younger volcanic terrains</a:t>
            </a:r>
          </a:p>
        </p:txBody>
      </p:sp>
    </p:spTree>
    <p:extLst>
      <p:ext uri="{BB962C8B-B14F-4D97-AF65-F5344CB8AC3E}">
        <p14:creationId xmlns:p14="http://schemas.microsoft.com/office/powerpoint/2010/main" val="1303529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7779C-F22B-E171-1937-1080B956F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Challis Volcanics (Eocene volcanism)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6195D-DCA1-7EB7-EFFE-AD5AE9820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Tertiary volcanic province (~45–50 million years old)</a:t>
            </a:r>
          </a:p>
          <a:p>
            <a:pPr fontAlgn="base"/>
            <a:r>
              <a:rPr lang="en-US" dirty="0"/>
              <a:t>Andesites, rhyolites, tuffs → more mantle influence</a:t>
            </a:r>
          </a:p>
          <a:p>
            <a:pPr fontAlgn="base"/>
            <a:r>
              <a:rPr lang="en-US" dirty="0"/>
              <a:t>Typically yield </a:t>
            </a:r>
            <a:r>
              <a:rPr lang="en-US" b="1" dirty="0"/>
              <a:t>lower Sr isotope ratios</a:t>
            </a:r>
            <a:r>
              <a:rPr lang="en-US" dirty="0"/>
              <a:t> than the batholith</a:t>
            </a:r>
          </a:p>
          <a:p>
            <a:pPr fontAlgn="base"/>
            <a:r>
              <a:rPr lang="en-US" dirty="0"/>
              <a:t>Common in northern and eastern parts of MFSR watershed</a:t>
            </a:r>
          </a:p>
        </p:txBody>
      </p:sp>
    </p:spTree>
    <p:extLst>
      <p:ext uri="{BB962C8B-B14F-4D97-AF65-F5344CB8AC3E}">
        <p14:creationId xmlns:p14="http://schemas.microsoft.com/office/powerpoint/2010/main" val="7857888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C8235-A9D8-8FBA-3577-F3BBFA28E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Precambrian Metamorphic Rocks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350F6-17FF-A336-9B3E-4AB3F4C38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Some of the oldest crust in North America (&gt;1.4 billion years)</a:t>
            </a:r>
          </a:p>
          <a:p>
            <a:pPr fontAlgn="base"/>
            <a:r>
              <a:rPr lang="en-US" dirty="0"/>
              <a:t>Schists, gneisses → highly radiogenic Sr signatures</a:t>
            </a:r>
          </a:p>
          <a:p>
            <a:pPr fontAlgn="base"/>
            <a:r>
              <a:rPr lang="en-US" dirty="0"/>
              <a:t>Occur as inliers and upland belts in central Idaho</a:t>
            </a:r>
          </a:p>
          <a:p>
            <a:r>
              <a:rPr lang="en-US" dirty="0"/>
              <a:t>Provide </a:t>
            </a:r>
            <a:r>
              <a:rPr lang="en-US" b="1" dirty="0"/>
              <a:t>ancient “anchors”</a:t>
            </a:r>
            <a:r>
              <a:rPr lang="en-US" dirty="0"/>
              <a:t> for isotopic variation</a:t>
            </a:r>
          </a:p>
        </p:txBody>
      </p:sp>
    </p:spTree>
    <p:extLst>
      <p:ext uri="{BB962C8B-B14F-4D97-AF65-F5344CB8AC3E}">
        <p14:creationId xmlns:p14="http://schemas.microsoft.com/office/powerpoint/2010/main" val="24939783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3FF99-44C1-156E-66F5-BF942ED03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Sedimentary Sequences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5922E-DE61-C716-CBEF-F1B14AF12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Some of the oldest crust in North America (&gt;1.4 billion years)</a:t>
            </a:r>
          </a:p>
          <a:p>
            <a:pPr fontAlgn="base"/>
            <a:r>
              <a:rPr lang="en-US" dirty="0"/>
              <a:t>Schists, gneisses → highly radiogenic Sr signatures</a:t>
            </a:r>
          </a:p>
          <a:p>
            <a:pPr fontAlgn="base"/>
            <a:r>
              <a:rPr lang="en-US" dirty="0"/>
              <a:t>Occur as inliers and upland belts in central Idaho</a:t>
            </a:r>
          </a:p>
          <a:p>
            <a:r>
              <a:rPr lang="en-US" dirty="0"/>
              <a:t>Provide </a:t>
            </a:r>
            <a:r>
              <a:rPr lang="en-US" b="1" dirty="0"/>
              <a:t>ancient “anchors”</a:t>
            </a:r>
            <a:r>
              <a:rPr lang="en-US" dirty="0"/>
              <a:t> for isotopic variation</a:t>
            </a:r>
          </a:p>
        </p:txBody>
      </p:sp>
    </p:spTree>
    <p:extLst>
      <p:ext uri="{BB962C8B-B14F-4D97-AF65-F5344CB8AC3E}">
        <p14:creationId xmlns:p14="http://schemas.microsoft.com/office/powerpoint/2010/main" val="15391181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804D8-B6A3-9A1E-3B49-31701D699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This Means for the Middle Fork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3E5DF-258A-AFCD-33CA-61FD52BDC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fontAlgn="base"/>
            <a:r>
              <a:rPr lang="en-US" b="1" dirty="0"/>
              <a:t>Spatial heterogeneity</a:t>
            </a:r>
            <a:r>
              <a:rPr lang="en-US" dirty="0"/>
              <a:t> → tributaries draining different lithologies will carry distinct Sr isotope ratios.</a:t>
            </a:r>
          </a:p>
          <a:p>
            <a:pPr lvl="1" fontAlgn="base"/>
            <a:r>
              <a:rPr lang="en-US" dirty="0"/>
              <a:t>Batholith-fed streams: </a:t>
            </a:r>
            <a:r>
              <a:rPr lang="en-US" b="1" dirty="0"/>
              <a:t>higher, more evolved Sr signatures</a:t>
            </a:r>
            <a:r>
              <a:rPr lang="en-US" dirty="0"/>
              <a:t>.</a:t>
            </a:r>
          </a:p>
          <a:p>
            <a:pPr lvl="1" fontAlgn="base"/>
            <a:r>
              <a:rPr lang="en-US" dirty="0"/>
              <a:t>Volcanic-fed streams: </a:t>
            </a:r>
            <a:r>
              <a:rPr lang="en-US" b="1" dirty="0"/>
              <a:t>lower, mantle-like Sr ratios</a:t>
            </a:r>
            <a:r>
              <a:rPr lang="en-US" dirty="0"/>
              <a:t>.</a:t>
            </a:r>
          </a:p>
          <a:p>
            <a:pPr lvl="1" fontAlgn="base"/>
            <a:r>
              <a:rPr lang="en-US" dirty="0"/>
              <a:t>Metamorphic-fed streams: </a:t>
            </a:r>
            <a:r>
              <a:rPr lang="en-US" b="1" dirty="0"/>
              <a:t>very radiogenic “outliers”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Sedimentary patches: </a:t>
            </a:r>
            <a:r>
              <a:rPr lang="en-US" b="1" dirty="0"/>
              <a:t>localized influences</a:t>
            </a:r>
            <a:r>
              <a:rPr lang="en-US" dirty="0"/>
              <a:t>, sometimes dampening variation.</a:t>
            </a:r>
          </a:p>
          <a:p>
            <a:pPr fontAlgn="base"/>
            <a:r>
              <a:rPr lang="en-US" dirty="0"/>
              <a:t>The Middle Fork is not geologically uniform → it’s a </a:t>
            </a:r>
            <a:r>
              <a:rPr lang="en-US" b="1" dirty="0"/>
              <a:t>mosaic of rock types</a:t>
            </a:r>
            <a:r>
              <a:rPr lang="en-US" dirty="0"/>
              <a:t>, each imprinting its chemical signature onto the river.</a:t>
            </a:r>
          </a:p>
          <a:p>
            <a:pPr fontAlgn="base"/>
            <a:r>
              <a:rPr lang="en-US" dirty="0"/>
              <a:t>This complexity is exactly what makes strontium isoscapes powerful:</a:t>
            </a:r>
          </a:p>
          <a:p>
            <a:pPr lvl="1" fontAlgn="base"/>
            <a:r>
              <a:rPr lang="en-US" dirty="0"/>
              <a:t>Tributaries become chemically “distinct voices” in the watershed.</a:t>
            </a:r>
          </a:p>
          <a:p>
            <a:pPr lvl="1" fontAlgn="base"/>
            <a:r>
              <a:rPr lang="en-US" dirty="0"/>
              <a:t>Fish otoliths can be matched back to those voices.</a:t>
            </a:r>
          </a:p>
          <a:p>
            <a:r>
              <a:rPr lang="en-US" dirty="0"/>
              <a:t>Analogy: </a:t>
            </a:r>
            <a:r>
              <a:rPr lang="en-US" b="1" dirty="0"/>
              <a:t>Think of the Middle Fork as a choir — granite baritones, volcanic tenors, metamorphic basses, and sedimentary altos, all blending into the river’s song.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4796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B26EF-5B8E-77F2-FC2A-33356A8CA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strontium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68DA7-F465-1322-9C86-A41682AA5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Strontium substitutes for calcium in minerals and dissolves readily into water</a:t>
            </a:r>
          </a:p>
          <a:p>
            <a:r>
              <a:rPr lang="en-US" dirty="0"/>
              <a:t>Importantly, the isotopic ratio (^87Sr/^86Sr) is not fractionated by biological processes</a:t>
            </a:r>
          </a:p>
          <a:p>
            <a:r>
              <a:rPr lang="en-US" dirty="0"/>
              <a:t>That means a fish’s otolith records the isotopic signature of the water it lived in, giving you a natural tracer of habitat use</a:t>
            </a:r>
            <a:endParaRPr lang="en-US" b="0" dirty="0">
              <a:effectLst/>
            </a:endParaRPr>
          </a:p>
          <a:p>
            <a:r>
              <a:rPr lang="en-US" dirty="0"/>
              <a:t>So: geology → water chemistry → otolith chemistry</a:t>
            </a:r>
          </a:p>
          <a:p>
            <a:r>
              <a:rPr lang="en-US" dirty="0"/>
              <a:t>So: lithosphere → hydrosphere </a:t>
            </a:r>
            <a:r>
              <a:rPr lang="en-US"/>
              <a:t>→ biosphere</a:t>
            </a:r>
            <a:endParaRPr lang="en-US" dirty="0"/>
          </a:p>
          <a:p>
            <a:r>
              <a:rPr lang="en-US" dirty="0"/>
              <a:t>For strontium, what matters is the mineral content and especially the age of the rocks. Old continental crust tends to have high ^87Sr/^86Sr ratios, while younger volcanic rocks trend lower.</a:t>
            </a:r>
            <a:endParaRPr lang="en-US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567517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05D72-E4F7-FB17-D18C-CF101908D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Covariates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A8732-9AAE-74C0-2A20-BA96501B3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Rock type (lithology)</a:t>
            </a:r>
          </a:p>
          <a:p>
            <a:r>
              <a:rPr lang="en-US" dirty="0"/>
              <a:t>Rock age</a:t>
            </a:r>
          </a:p>
          <a:p>
            <a:r>
              <a:rPr lang="en-US" dirty="0"/>
              <a:t>Land cover type</a:t>
            </a:r>
          </a:p>
        </p:txBody>
      </p:sp>
    </p:spTree>
    <p:extLst>
      <p:ext uri="{BB962C8B-B14F-4D97-AF65-F5344CB8AC3E}">
        <p14:creationId xmlns:p14="http://schemas.microsoft.com/office/powerpoint/2010/main" val="2589070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ans pro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6269</TotalTime>
  <Words>1254</Words>
  <Application>Microsoft Office PowerPoint</Application>
  <PresentationFormat>Widescreen</PresentationFormat>
  <Paragraphs>124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Source Sans Pro</vt:lpstr>
      <vt:lpstr>Wingdings</vt:lpstr>
      <vt:lpstr>Office Theme</vt:lpstr>
      <vt:lpstr>Geology 101 for Strontium Isoscapes: from rocks to rivers</vt:lpstr>
      <vt:lpstr>What is geology?</vt:lpstr>
      <vt:lpstr>Three rock families</vt:lpstr>
      <vt:lpstr>PowerPoint Presentation</vt:lpstr>
      <vt:lpstr>Igneous rocks</vt:lpstr>
      <vt:lpstr>Igneous rocks: chemistry and Sr</vt:lpstr>
      <vt:lpstr>Igneous rocks: context for rivers</vt:lpstr>
      <vt:lpstr>Sedimentary rocks</vt:lpstr>
      <vt:lpstr>Sedimentary rocks: chemistry and Sr</vt:lpstr>
      <vt:lpstr>Sedimentary rocks: context for rivers</vt:lpstr>
      <vt:lpstr>Metamorphic rocks</vt:lpstr>
      <vt:lpstr>Metamorphic rocks: chemistry and Sr</vt:lpstr>
      <vt:lpstr>Metamorphic rocks: context for rivers</vt:lpstr>
      <vt:lpstr>Geology of Idaho and the MFSR</vt:lpstr>
      <vt:lpstr>The Big Players in Central Idaho</vt:lpstr>
      <vt:lpstr>Idaho Batholith (Cretaceous granites)</vt:lpstr>
      <vt:lpstr>Challis Volcanics (Eocene volcanism)</vt:lpstr>
      <vt:lpstr>Precambrian Metamorphic Rocks</vt:lpstr>
      <vt:lpstr>Sedimentary Sequences</vt:lpstr>
      <vt:lpstr>What This Means for the Middle Fork</vt:lpstr>
      <vt:lpstr>Why strontium matters</vt:lpstr>
      <vt:lpstr>Covariates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Maitland, Bryan - FS, ID</dc:creator>
  <cp:lastModifiedBy>Maitland, Bryan - FS, ID</cp:lastModifiedBy>
  <cp:revision>2</cp:revision>
  <dcterms:created xsi:type="dcterms:W3CDTF">2025-09-18T17:32:30Z</dcterms:created>
  <dcterms:modified xsi:type="dcterms:W3CDTF">2025-09-23T22:51:33Z</dcterms:modified>
</cp:coreProperties>
</file>